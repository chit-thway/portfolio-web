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Live homepage screenshot: https://chitthway-portfolio.pages.dev/ (captured 2026-08-28)</a:t>
            </a:r>
          </a:p>
          <a:p>
            <a:r>
              <a:t>- Product purpose: docs/version-2-roadmap.md in the current Portfolio V2 repository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Live dark-mode homepage screenshot: https://chitthway-portfolio.pages.dev/ (captured 2026-08-28)</a:t>
            </a:r>
          </a:p>
          <a:p>
            <a:r>
              <a:t>- Homepage structure and actions: app/page.tsx and app/components/ThemeToggle.tsx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Live profile-directory screenshot: https://chitthway-portfolio.pages.dev/ (captured 2026-08-28)</a:t>
            </a:r>
          </a:p>
          <a:p>
            <a:r>
              <a:t>- Homepage section order and destinations: app/page.tsx and app/components/AboutDirectory.tsx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Live selected-work screenshot: https://chitthway-portfolio.pages.dev/#projects (captured 2026-08-28)</a:t>
            </a:r>
          </a:p>
          <a:p>
            <a:r>
              <a:t>- Featured-project framing and verified project types: app/page.tsx and app/data/projectCaseStudies.ts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Live Job Application Tracker case-study screenshot: https://chitthway-portfolio.pages.dev/projects/job-application-tracker/ (captured 2026-08-28)</a:t>
            </a:r>
          </a:p>
          <a:p>
            <a:r>
              <a:t>- Case-study content structure: app/data/projectCaseStudies.ts and project-page components in the current repository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Live portfolio: https://chitthway-portfolio.pages.dev/ (verified 2026-08-28)</a:t>
            </a:r>
          </a:p>
          <a:p>
            <a:r>
              <a:t>- Implementation stack: package.json and wrangler.toml</a:t>
            </a:r>
          </a:p>
          <a:p>
            <a:r>
              <a:t>- Accessibility, routing and rendered-content checks: app/page.tsx, app/components/TechnologyMarquee.tsx and tests/rendered-html.test.mjs</a:t>
            </a:r>
          </a:p>
          <a:p>
            <a:r>
              <a:t>- Diary is referenced only as an extension; see the separate Portfolio Diary case-study deck for detail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9ACC89-EAFB-4B85-9B25-4A40A730D9AC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PORTFOLIO V2 · CASE STUDY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AC038E-24B9-4EB6-BAB7-CEC62A387FA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533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800" b="1">
                <a:solidFill>
                  <a:srgbClr val="171817"/>
                </a:solidFill>
              </a:defRPr>
            </a:pPr>
            <a:r>
              <a:rPr sz="4800" b="1">
                <a:solidFill>
                  <a:srgbClr val="171817"/>
                </a:solidFill>
              </a:rPr>
              <a:t>Portfolio V2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688C05-91C0-47DB-B620-880AE6E8C9C4}"/>
              </a:ext>
            </a:extLst>
          </p:cNvPr>
          <p:cNvSpPr>
            <a:spLocks noGrp="1"/>
          </p:cNvSpPr>
          <p:nvPr/>
        </p:nvSpPr>
        <p:spPr>
          <a:xfrm>
            <a:off x="704850" y="2343150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35734F"/>
                </a:solidFill>
              </a:defRPr>
            </a:pPr>
            <a:r>
              <a:rPr sz="2550" b="1">
                <a:solidFill>
                  <a:srgbClr val="35734F"/>
                </a:solidFill>
              </a:rPr>
              <a:t>Evidence, not just claims.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F3CE7C-D612-4982-B207-40E142069EE2}"/>
              </a:ext>
            </a:extLst>
          </p:cNvPr>
          <p:cNvSpPr>
            <a:spLocks noGrp="1"/>
          </p:cNvSpPr>
          <p:nvPr/>
        </p:nvSpPr>
        <p:spPr>
          <a:xfrm>
            <a:off x="704850" y="3295650"/>
            <a:ext cx="476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686D68"/>
                </a:solidFill>
              </a:defRPr>
            </a:pPr>
            <a:r>
              <a:rPr sz="1650" b="0">
                <a:solidFill>
                  <a:srgbClr val="686D68"/>
                </a:solidFill>
              </a:rPr>
              <a:t>A production portfolio designed to make capability easy to scan—and the underlying work easy to verify.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68E7733-7A1E-470B-825E-222A920ABB50}"/>
              </a:ext>
            </a:extLst>
          </p:cNvPr>
          <p:cNvSpPr>
            <a:spLocks noGrp="1"/>
          </p:cNvSpPr>
          <p:nvPr/>
        </p:nvSpPr>
        <p:spPr>
          <a:xfrm>
            <a:off x="704850" y="4857750"/>
            <a:ext cx="4762500" cy="0"/>
          </a:xfrm>
          <a:prstGeom prst="line">
            <a:avLst/>
          </a:prstGeom>
          <a:noFill/>
          <a:ln w="9525">
            <a:solidFill>
              <a:srgbClr val="D8DA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2AA650-1AFF-444A-833D-F9C98DFA39E6}"/>
              </a:ext>
            </a:extLst>
          </p:cNvPr>
          <p:cNvSpPr>
            <a:spLocks noGrp="1"/>
          </p:cNvSpPr>
          <p:nvPr/>
        </p:nvSpPr>
        <p:spPr>
          <a:xfrm>
            <a:off x="704850" y="50863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71817"/>
                </a:solidFill>
              </a:defRPr>
            </a:pPr>
            <a:r>
              <a:rPr sz="1200" b="0">
                <a:solidFill>
                  <a:srgbClr val="171817"/>
                </a:solidFill>
              </a:rPr>
              <a:t>Product strategy · UX · Front-end · Cloudflare delivery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F68FD1-92AD-4463-A728-252C9E6AA3ED}"/>
              </a:ext>
            </a:extLst>
          </p:cNvPr>
          <p:cNvSpPr>
            <a:spLocks noGrp="1"/>
          </p:cNvSpPr>
          <p:nvPr/>
        </p:nvSpPr>
        <p:spPr>
          <a:xfrm>
            <a:off x="704850" y="59055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CHIT THWAY ·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D518FC-9392-4272-96BE-012F86463CF2}"/>
              </a:ext>
            </a:extLst>
          </p:cNvPr>
          <p:cNvSpPr>
            <a:spLocks noGrp="1"/>
          </p:cNvSpPr>
          <p:nvPr/>
        </p:nvSpPr>
        <p:spPr>
          <a:xfrm>
            <a:off x="6553200" y="0"/>
            <a:ext cx="5638800" cy="6858000"/>
          </a:xfrm>
          <a:prstGeom prst="rect">
            <a:avLst/>
          </a:prstGeom>
          <a:solidFill>
            <a:srgbClr val="101211"/>
          </a:solidFill>
          <a:ln w="0">
            <a:solidFill>
              <a:srgbClr val="10121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l="8030" r="38418"/>
          <a:stretch>
            <a:fillRect/>
          </a:stretch>
        </p:blipFill>
        <p:spPr>
          <a:xfrm>
            <a:off x="7010400" y="609600"/>
            <a:ext cx="4724400" cy="5638800"/>
          </a:xfrm>
          <a:prstGeom prst="roundRect">
            <a:avLst>
              <a:gd name="adj" fmla="val 4435"/>
            </a:avLst>
          </a:prstGeom>
        </p:spPr>
      </p:pic>
    </p:spTree>
    <p:extLst>
      <p:ext uri="{BB962C8B-B14F-4D97-AF65-F5344CB8AC3E}">
        <p14:creationId xmlns:p14="http://schemas.microsoft.com/office/powerpoint/2010/main" val="152497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82E294F-F0AD-4FD9-A2F1-48F635A34F9F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6CAF83"/>
                </a:solidFill>
              </a:defRPr>
            </a:pPr>
            <a:r>
              <a:rPr sz="975" b="1">
                <a:solidFill>
                  <a:srgbClr val="6CAF83"/>
                </a:solidFill>
              </a:rPr>
              <a:t>01 · FIRST-SCREEN STRATEGY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2C62B8-8AB7-4B6C-900E-2E00F8A206D5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7239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first screen answers the questions employers ask first.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A3659-E24B-41C4-A077-D5C6D2172E57}"/>
              </a:ext>
            </a:extLst>
          </p:cNvPr>
          <p:cNvSpPr>
            <a:spLocks noGrp="1"/>
          </p:cNvSpPr>
          <p:nvPr/>
        </p:nvSpPr>
        <p:spPr>
          <a:xfrm>
            <a:off x="704850" y="1981200"/>
            <a:ext cx="628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B9BDBA"/>
                </a:solidFill>
              </a:defRPr>
            </a:pPr>
            <a:r>
              <a:rPr sz="1425" b="0">
                <a:solidFill>
                  <a:srgbClr val="B9BDBA"/>
                </a:solidFill>
              </a:rPr>
              <a:t>Role, evidence and next action are visible before the visitor has to explore.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t="12391" b="12391"/>
          <a:stretch>
            <a:fillRect/>
          </a:stretch>
        </p:blipFill>
        <p:spPr>
          <a:xfrm>
            <a:off x="685800" y="2781300"/>
            <a:ext cx="6934200" cy="3333750"/>
          </a:xfrm>
          <a:prstGeom prst="roundRect">
            <a:avLst>
              <a:gd name="adj" fmla="val 6286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6CB2D4-EC4B-41CD-B751-D51900149BE1}"/>
              </a:ext>
            </a:extLst>
          </p:cNvPr>
          <p:cNvSpPr>
            <a:spLocks noGrp="1"/>
          </p:cNvSpPr>
          <p:nvPr/>
        </p:nvSpPr>
        <p:spPr>
          <a:xfrm>
            <a:off x="8115300" y="28956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6CAF83"/>
                </a:solidFill>
              </a:defRPr>
            </a:pPr>
            <a:r>
              <a:rPr sz="975" b="1">
                <a:solidFill>
                  <a:srgbClr val="6CAF83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31C75-4D8A-4FAC-AAC0-FADE5CD3728C}"/>
              </a:ext>
            </a:extLst>
          </p:cNvPr>
          <p:cNvSpPr>
            <a:spLocks noGrp="1"/>
          </p:cNvSpPr>
          <p:nvPr/>
        </p:nvSpPr>
        <p:spPr>
          <a:xfrm>
            <a:off x="8648700" y="28575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Clear positioning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CD386D-AE7C-4621-BAA2-F8EA72723745}"/>
              </a:ext>
            </a:extLst>
          </p:cNvPr>
          <p:cNvSpPr>
            <a:spLocks noGrp="1"/>
          </p:cNvSpPr>
          <p:nvPr/>
        </p:nvSpPr>
        <p:spPr>
          <a:xfrm>
            <a:off x="8648700" y="3219450"/>
            <a:ext cx="2781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B9BDBA"/>
                </a:solidFill>
              </a:defRPr>
            </a:pPr>
            <a:r>
              <a:rPr sz="1200" b="0">
                <a:solidFill>
                  <a:srgbClr val="B9BDBA"/>
                </a:solidFill>
              </a:rPr>
              <a:t>Application support, troubleshooting and software quality lead the page.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BBB951BD-4540-4526-8EBA-A9AB93CC211C}"/>
              </a:ext>
            </a:extLst>
          </p:cNvPr>
          <p:cNvSpPr>
            <a:spLocks noGrp="1"/>
          </p:cNvSpPr>
          <p:nvPr/>
        </p:nvSpPr>
        <p:spPr>
          <a:xfrm>
            <a:off x="8115300" y="3848100"/>
            <a:ext cx="3314700" cy="0"/>
          </a:xfrm>
          <a:prstGeom prst="line">
            <a:avLst/>
          </a:prstGeom>
          <a:noFill/>
          <a:ln w="9525">
            <a:solidFill>
              <a:srgbClr val="31363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BB393A-33C5-4EAF-9B67-9DFAF8BDE80D}"/>
              </a:ext>
            </a:extLst>
          </p:cNvPr>
          <p:cNvSpPr>
            <a:spLocks noGrp="1"/>
          </p:cNvSpPr>
          <p:nvPr/>
        </p:nvSpPr>
        <p:spPr>
          <a:xfrm>
            <a:off x="8115300" y="39814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6CAF83"/>
                </a:solidFill>
              </a:defRPr>
            </a:pPr>
            <a:r>
              <a:rPr sz="975" b="1">
                <a:solidFill>
                  <a:srgbClr val="6CAF83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716FE9-934C-4E67-B5E3-6F3E966C1079}"/>
              </a:ext>
            </a:extLst>
          </p:cNvPr>
          <p:cNvSpPr>
            <a:spLocks noGrp="1"/>
          </p:cNvSpPr>
          <p:nvPr/>
        </p:nvSpPr>
        <p:spPr>
          <a:xfrm>
            <a:off x="8648700" y="39433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Immediate proof path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1BB8ED-F487-42B1-959A-139B92AFE5CC}"/>
              </a:ext>
            </a:extLst>
          </p:cNvPr>
          <p:cNvSpPr>
            <a:spLocks noGrp="1"/>
          </p:cNvSpPr>
          <p:nvPr/>
        </p:nvSpPr>
        <p:spPr>
          <a:xfrm>
            <a:off x="8648700" y="4305300"/>
            <a:ext cx="2781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B9BDBA"/>
                </a:solidFill>
              </a:defRPr>
            </a:pPr>
            <a:r>
              <a:rPr sz="1200" b="0">
                <a:solidFill>
                  <a:srgbClr val="B9BDBA"/>
                </a:solidFill>
              </a:rPr>
              <a:t>Featured work is the primary action; résumé and contact stay one click away.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BD97759-CAF1-4D88-91B5-15BDCD29CA4D}"/>
              </a:ext>
            </a:extLst>
          </p:cNvPr>
          <p:cNvSpPr>
            <a:spLocks noGrp="1"/>
          </p:cNvSpPr>
          <p:nvPr/>
        </p:nvSpPr>
        <p:spPr>
          <a:xfrm>
            <a:off x="8115300" y="4933950"/>
            <a:ext cx="3314700" cy="0"/>
          </a:xfrm>
          <a:prstGeom prst="line">
            <a:avLst/>
          </a:prstGeom>
          <a:noFill/>
          <a:ln w="9525">
            <a:solidFill>
              <a:srgbClr val="31363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BC9D8E-FB62-4910-978A-A380F39255F6}"/>
              </a:ext>
            </a:extLst>
          </p:cNvPr>
          <p:cNvSpPr>
            <a:spLocks noGrp="1"/>
          </p:cNvSpPr>
          <p:nvPr/>
        </p:nvSpPr>
        <p:spPr>
          <a:xfrm>
            <a:off x="8115300" y="50673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6CAF83"/>
                </a:solidFill>
              </a:defRPr>
            </a:pPr>
            <a:r>
              <a:rPr sz="975" b="1">
                <a:solidFill>
                  <a:srgbClr val="6CAF83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C21A6C-B02B-40D4-8440-E119BA99C0FD}"/>
              </a:ext>
            </a:extLst>
          </p:cNvPr>
          <p:cNvSpPr>
            <a:spLocks noGrp="1"/>
          </p:cNvSpPr>
          <p:nvPr/>
        </p:nvSpPr>
        <p:spPr>
          <a:xfrm>
            <a:off x="8648700" y="50292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Human context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FE6EE3-63F9-40B0-8CA7-5D00003960E6}"/>
              </a:ext>
            </a:extLst>
          </p:cNvPr>
          <p:cNvSpPr>
            <a:spLocks noGrp="1"/>
          </p:cNvSpPr>
          <p:nvPr/>
        </p:nvSpPr>
        <p:spPr>
          <a:xfrm>
            <a:off x="8648700" y="5391150"/>
            <a:ext cx="2781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B9BDBA"/>
                </a:solidFill>
              </a:defRPr>
            </a:pPr>
            <a:r>
              <a:rPr sz="1200" b="0">
                <a:solidFill>
                  <a:srgbClr val="B9BDBA"/>
                </a:solidFill>
              </a:rPr>
              <a:t>Identity, location, availability and verified professional links establish trust.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9DE350-98FD-40D4-B9A0-56333271F107}"/>
              </a:ext>
            </a:extLst>
          </p:cNvPr>
          <p:cNvSpPr>
            <a:spLocks noGrp="1"/>
          </p:cNvSpPr>
          <p:nvPr/>
        </p:nvSpPr>
        <p:spPr>
          <a:xfrm>
            <a:off x="10934700" y="63817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747A75"/>
                </a:solidFill>
              </a:defRPr>
            </a:pPr>
            <a:r>
              <a:rPr sz="900" b="0">
                <a:solidFill>
                  <a:srgbClr val="747A7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6188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C241AA0-FA3F-4511-B08C-7FDCA93F3CE0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02 · INFORMATION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2598DE-3A45-4EC9-8B76-3CD05ADEFE60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8096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71817"/>
                </a:solidFill>
              </a:defRPr>
            </a:pPr>
            <a:r>
              <a:rPr sz="3150" b="1">
                <a:solidFill>
                  <a:srgbClr val="171817"/>
                </a:solidFill>
              </a:rPr>
              <a:t>The homepage turns browsing into a deliberate evidence journey.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F89598-257C-4F96-AFCD-9BD907BD1232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7972E6-CD7E-476D-B6BE-B834B0F5F86D}"/>
              </a:ext>
            </a:extLst>
          </p:cNvPr>
          <p:cNvSpPr>
            <a:spLocks noGrp="1"/>
          </p:cNvSpPr>
          <p:nvPr/>
        </p:nvSpPr>
        <p:spPr>
          <a:xfrm>
            <a:off x="1200150" y="23050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1817"/>
                </a:solidFill>
              </a:defRPr>
            </a:pPr>
            <a:r>
              <a:rPr sz="1500" b="1">
                <a:solidFill>
                  <a:srgbClr val="171817"/>
                </a:solidFill>
              </a:rPr>
              <a:t>Identity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701223-6CCE-4456-8F82-B89837412156}"/>
              </a:ext>
            </a:extLst>
          </p:cNvPr>
          <p:cNvSpPr>
            <a:spLocks noGrp="1"/>
          </p:cNvSpPr>
          <p:nvPr/>
        </p:nvSpPr>
        <p:spPr>
          <a:xfrm>
            <a:off x="2914650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86D68"/>
                </a:solidFill>
              </a:defRPr>
            </a:pPr>
            <a:r>
              <a:rPr sz="1200" b="0">
                <a:solidFill>
                  <a:srgbClr val="686D68"/>
                </a:solidFill>
              </a:rPr>
              <a:t>Role, location and availability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80494697-061F-4F6C-96EA-4B3BE378B26E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4819650" cy="0"/>
          </a:xfrm>
          <a:prstGeom prst="line">
            <a:avLst/>
          </a:prstGeom>
          <a:noFill/>
          <a:ln w="9525">
            <a:solidFill>
              <a:srgbClr val="D8DA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B13F95-2820-4E93-90AE-837FEAB9EAAD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B2BCC1-8561-4AE1-8755-BB719F2978E8}"/>
              </a:ext>
            </a:extLst>
          </p:cNvPr>
          <p:cNvSpPr>
            <a:spLocks noGrp="1"/>
          </p:cNvSpPr>
          <p:nvPr/>
        </p:nvSpPr>
        <p:spPr>
          <a:xfrm>
            <a:off x="1200150" y="2952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1817"/>
                </a:solidFill>
              </a:defRPr>
            </a:pPr>
            <a:r>
              <a:rPr sz="1500" b="1">
                <a:solidFill>
                  <a:srgbClr val="171817"/>
                </a:solidFill>
              </a:rPr>
              <a:t>Context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4A2A2F-CDA3-40AC-9C8B-4F7BE61CE3D0}"/>
              </a:ext>
            </a:extLst>
          </p:cNvPr>
          <p:cNvSpPr>
            <a:spLocks noGrp="1"/>
          </p:cNvSpPr>
          <p:nvPr/>
        </p:nvSpPr>
        <p:spPr>
          <a:xfrm>
            <a:off x="2914650" y="29813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86D68"/>
                </a:solidFill>
              </a:defRPr>
            </a:pPr>
            <a:r>
              <a:rPr sz="1200" b="0">
                <a:solidFill>
                  <a:srgbClr val="686D68"/>
                </a:solidFill>
              </a:rPr>
              <a:t>Bio, education and location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DA69AD3-EC1D-437F-A710-5B6BC0883C0C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4819650" cy="0"/>
          </a:xfrm>
          <a:prstGeom prst="line">
            <a:avLst/>
          </a:prstGeom>
          <a:noFill/>
          <a:ln w="9525">
            <a:solidFill>
              <a:srgbClr val="D8DA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4BF9B8-23D9-47F6-879D-7CC44E6441A7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4DE920-D1B7-442C-BF42-5D0892075BE3}"/>
              </a:ext>
            </a:extLst>
          </p:cNvPr>
          <p:cNvSpPr>
            <a:spLocks noGrp="1"/>
          </p:cNvSpPr>
          <p:nvPr/>
        </p:nvSpPr>
        <p:spPr>
          <a:xfrm>
            <a:off x="1200150" y="36004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1817"/>
                </a:solidFill>
              </a:defRPr>
            </a:pPr>
            <a:r>
              <a:rPr sz="1500" b="1">
                <a:solidFill>
                  <a:srgbClr val="171817"/>
                </a:solidFill>
              </a:rPr>
              <a:t>Proof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77CACE-6811-4FFC-98E4-7D98868745B4}"/>
              </a:ext>
            </a:extLst>
          </p:cNvPr>
          <p:cNvSpPr>
            <a:spLocks noGrp="1"/>
          </p:cNvSpPr>
          <p:nvPr/>
        </p:nvSpPr>
        <p:spPr>
          <a:xfrm>
            <a:off x="2914650" y="36290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86D68"/>
                </a:solidFill>
              </a:defRPr>
            </a:pPr>
            <a:r>
              <a:rPr sz="1200" b="0">
                <a:solidFill>
                  <a:srgbClr val="686D68"/>
                </a:solidFill>
              </a:rPr>
              <a:t>Selected projects and deeper case studies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19AD1F4A-90B9-45EB-8B13-76C8A1F8FE70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4819650" cy="0"/>
          </a:xfrm>
          <a:prstGeom prst="line">
            <a:avLst/>
          </a:prstGeom>
          <a:noFill/>
          <a:ln w="9525">
            <a:solidFill>
              <a:srgbClr val="D8DA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AA6B37-5766-4605-A785-2AD3859FDEA7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52122F-BC69-4051-8E3B-27EE3955B317}"/>
              </a:ext>
            </a:extLst>
          </p:cNvPr>
          <p:cNvSpPr>
            <a:spLocks noGrp="1"/>
          </p:cNvSpPr>
          <p:nvPr/>
        </p:nvSpPr>
        <p:spPr>
          <a:xfrm>
            <a:off x="1200150" y="42481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1817"/>
                </a:solidFill>
              </a:defRPr>
            </a:pPr>
            <a:r>
              <a:rPr sz="1500" b="1">
                <a:solidFill>
                  <a:srgbClr val="171817"/>
                </a:solidFill>
              </a:rPr>
              <a:t>Credibility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AB008C-3071-4543-8525-9800629A7F9E}"/>
              </a:ext>
            </a:extLst>
          </p:cNvPr>
          <p:cNvSpPr>
            <a:spLocks noGrp="1"/>
          </p:cNvSpPr>
          <p:nvPr/>
        </p:nvSpPr>
        <p:spPr>
          <a:xfrm>
            <a:off x="2914650" y="42767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86D68"/>
                </a:solidFill>
              </a:defRPr>
            </a:pPr>
            <a:r>
              <a:rPr sz="1200" b="0">
                <a:solidFill>
                  <a:srgbClr val="686D68"/>
                </a:solidFill>
              </a:rPr>
              <a:t>Experience, tools and public activity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02766DF-47C1-4871-8F99-98819DECC79D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4819650" cy="0"/>
          </a:xfrm>
          <a:prstGeom prst="line">
            <a:avLst/>
          </a:prstGeom>
          <a:noFill/>
          <a:ln w="9525">
            <a:solidFill>
              <a:srgbClr val="D8DA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0796B-8C20-418B-8074-A35DF314B286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D729F0-B13F-458F-A44F-819BDE54DD2B}"/>
              </a:ext>
            </a:extLst>
          </p:cNvPr>
          <p:cNvSpPr>
            <a:spLocks noGrp="1"/>
          </p:cNvSpPr>
          <p:nvPr/>
        </p:nvSpPr>
        <p:spPr>
          <a:xfrm>
            <a:off x="1200150" y="48958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1817"/>
                </a:solidFill>
              </a:defRPr>
            </a:pPr>
            <a:r>
              <a:rPr sz="1500" b="1">
                <a:solidFill>
                  <a:srgbClr val="171817"/>
                </a:solidFill>
              </a:rPr>
              <a:t>Action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ADC7E6-0132-43ED-B27E-0D72C7DE5574}"/>
              </a:ext>
            </a:extLst>
          </p:cNvPr>
          <p:cNvSpPr>
            <a:spLocks noGrp="1"/>
          </p:cNvSpPr>
          <p:nvPr/>
        </p:nvSpPr>
        <p:spPr>
          <a:xfrm>
            <a:off x="2914650" y="49244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86D68"/>
                </a:solidFill>
              </a:defRPr>
            </a:pPr>
            <a:r>
              <a:rPr sz="1200" b="0">
                <a:solidFill>
                  <a:srgbClr val="686D68"/>
                </a:solidFill>
              </a:rPr>
              <a:t>Résumé, email, LinkedIn and GitHub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rcRect l="6406" r="6406"/>
          <a:stretch>
            <a:fillRect/>
          </a:stretch>
        </p:blipFill>
        <p:spPr>
          <a:xfrm>
            <a:off x="6153150" y="2152650"/>
            <a:ext cx="5353050" cy="3924300"/>
          </a:xfrm>
          <a:prstGeom prst="roundRect">
            <a:avLst>
              <a:gd name="adj" fmla="val 5340"/>
            </a:avLst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64F0297-CF1D-4513-AE61-1844134BF60F}"/>
              </a:ext>
            </a:extLst>
          </p:cNvPr>
          <p:cNvSpPr>
            <a:spLocks noGrp="1"/>
          </p:cNvSpPr>
          <p:nvPr/>
        </p:nvSpPr>
        <p:spPr>
          <a:xfrm>
            <a:off x="10934700" y="63817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86D68"/>
                </a:solidFill>
              </a:defRPr>
            </a:pPr>
            <a:r>
              <a:rPr sz="900" b="0">
                <a:solidFill>
                  <a:srgbClr val="686D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65265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279ADB0-A5EA-477F-9DAC-394F3510883C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03 · SELECTED 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70E694-438E-469F-B906-46DC4F068EEF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7810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71817"/>
                </a:solidFill>
              </a:defRPr>
            </a:pPr>
            <a:r>
              <a:rPr sz="3150" b="1">
                <a:solidFill>
                  <a:srgbClr val="171817"/>
                </a:solidFill>
              </a:rPr>
              <a:t>Projects are framed as proof—not a gallery of thumbnails.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AB0395-1D36-4616-93A8-A4AAEE161E31}"/>
              </a:ext>
            </a:extLst>
          </p:cNvPr>
          <p:cNvSpPr>
            <a:spLocks noGrp="1"/>
          </p:cNvSpPr>
          <p:nvPr/>
        </p:nvSpPr>
        <p:spPr>
          <a:xfrm>
            <a:off x="704850" y="1847850"/>
            <a:ext cx="733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86D68"/>
                </a:solidFill>
              </a:defRPr>
            </a:pPr>
            <a:r>
              <a:rPr sz="1350" b="0">
                <a:solidFill>
                  <a:srgbClr val="686D68"/>
                </a:solidFill>
              </a:rPr>
              <a:t>Each card states the problem space, personal contribution, technology context and verified outcome before the visitor opens it.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t="915" b="915"/>
          <a:stretch>
            <a:fillRect/>
          </a:stretch>
        </p:blipFill>
        <p:spPr>
          <a:xfrm>
            <a:off x="685800" y="2724150"/>
            <a:ext cx="10820400" cy="3048000"/>
          </a:xfrm>
          <a:prstGeom prst="roundRect">
            <a:avLst>
              <a:gd name="adj" fmla="val 6875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8C47EDA-CE24-42B8-AFE0-C6D4E10A73AC}"/>
              </a:ext>
            </a:extLst>
          </p:cNvPr>
          <p:cNvSpPr>
            <a:spLocks noGrp="1"/>
          </p:cNvSpPr>
          <p:nvPr/>
        </p:nvSpPr>
        <p:spPr>
          <a:xfrm>
            <a:off x="800100" y="59817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363876-B4DD-4046-9D96-8483C0179B6E}"/>
              </a:ext>
            </a:extLst>
          </p:cNvPr>
          <p:cNvSpPr>
            <a:spLocks noGrp="1"/>
          </p:cNvSpPr>
          <p:nvPr/>
        </p:nvSpPr>
        <p:spPr>
          <a:xfrm>
            <a:off x="1219200" y="59436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1817"/>
                </a:solidFill>
              </a:defRPr>
            </a:pPr>
            <a:r>
              <a:rPr sz="1275" b="1">
                <a:solidFill>
                  <a:srgbClr val="171817"/>
                </a:solidFill>
              </a:rPr>
              <a:t>Full-stack product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7CBC27-D6E5-4068-9825-F2A180423669}"/>
              </a:ext>
            </a:extLst>
          </p:cNvPr>
          <p:cNvSpPr>
            <a:spLocks noGrp="1"/>
          </p:cNvSpPr>
          <p:nvPr/>
        </p:nvSpPr>
        <p:spPr>
          <a:xfrm>
            <a:off x="3448050" y="59817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FE2E5-44A0-4945-A2E8-04F39DF44325}"/>
              </a:ext>
            </a:extLst>
          </p:cNvPr>
          <p:cNvSpPr>
            <a:spLocks noGrp="1"/>
          </p:cNvSpPr>
          <p:nvPr/>
        </p:nvSpPr>
        <p:spPr>
          <a:xfrm>
            <a:off x="3867150" y="59436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1817"/>
                </a:solidFill>
              </a:defRPr>
            </a:pPr>
            <a:r>
              <a:rPr sz="1275" b="1">
                <a:solidFill>
                  <a:srgbClr val="171817"/>
                </a:solidFill>
              </a:rPr>
              <a:t>Support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793134-B6AA-45CF-8768-EFD57D1EDA6C}"/>
              </a:ext>
            </a:extLst>
          </p:cNvPr>
          <p:cNvSpPr>
            <a:spLocks noGrp="1"/>
          </p:cNvSpPr>
          <p:nvPr/>
        </p:nvSpPr>
        <p:spPr>
          <a:xfrm>
            <a:off x="6096000" y="59817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963CF3-5D37-4DD6-AE74-1C11B51F565B}"/>
              </a:ext>
            </a:extLst>
          </p:cNvPr>
          <p:cNvSpPr>
            <a:spLocks noGrp="1"/>
          </p:cNvSpPr>
          <p:nvPr/>
        </p:nvSpPr>
        <p:spPr>
          <a:xfrm>
            <a:off x="6515100" y="59436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1817"/>
                </a:solidFill>
              </a:defRPr>
            </a:pPr>
            <a:r>
              <a:rPr sz="1275" b="1">
                <a:solidFill>
                  <a:srgbClr val="171817"/>
                </a:solidFill>
              </a:rPr>
              <a:t>Commercial QA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C28D01-8222-425F-AFA1-830507D82594}"/>
              </a:ext>
            </a:extLst>
          </p:cNvPr>
          <p:cNvSpPr>
            <a:spLocks noGrp="1"/>
          </p:cNvSpPr>
          <p:nvPr/>
        </p:nvSpPr>
        <p:spPr>
          <a:xfrm>
            <a:off x="8743950" y="59817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6F1E8D-62AA-4A11-935E-2B3BA5126682}"/>
              </a:ext>
            </a:extLst>
          </p:cNvPr>
          <p:cNvSpPr>
            <a:spLocks noGrp="1"/>
          </p:cNvSpPr>
          <p:nvPr/>
        </p:nvSpPr>
        <p:spPr>
          <a:xfrm>
            <a:off x="9163050" y="59436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71817"/>
                </a:solidFill>
              </a:defRPr>
            </a:pPr>
            <a:r>
              <a:rPr sz="1275" b="1">
                <a:solidFill>
                  <a:srgbClr val="171817"/>
                </a:solidFill>
              </a:rPr>
              <a:t>Service workflow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343323-13DA-42D0-AD4C-B6E79C7DECB4}"/>
              </a:ext>
            </a:extLst>
          </p:cNvPr>
          <p:cNvSpPr>
            <a:spLocks noGrp="1"/>
          </p:cNvSpPr>
          <p:nvPr/>
        </p:nvSpPr>
        <p:spPr>
          <a:xfrm>
            <a:off x="10934700" y="63817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86D68"/>
                </a:solidFill>
              </a:defRPr>
            </a:pPr>
            <a:r>
              <a:rPr sz="900" b="0">
                <a:solidFill>
                  <a:srgbClr val="686D6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374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F44128B-C1B8-4258-B321-D49F50049FB6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04 · DEEP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DE8B8C-348A-45F4-85A6-8CECDD13087A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723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71817"/>
                </a:solidFill>
              </a:defRPr>
            </a:pPr>
            <a:r>
              <a:rPr sz="3150" b="1">
                <a:solidFill>
                  <a:srgbClr val="171817"/>
                </a:solidFill>
              </a:rPr>
              <a:t>Detailed case studies make the work inspectable.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rcRect l="409" r="409"/>
          <a:stretch>
            <a:fillRect/>
          </a:stretch>
        </p:blipFill>
        <p:spPr>
          <a:xfrm>
            <a:off x="685800" y="2152650"/>
            <a:ext cx="6915150" cy="3924300"/>
          </a:xfrm>
          <a:prstGeom prst="roundRect">
            <a:avLst>
              <a:gd name="adj" fmla="val 5340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F7052C-D289-4E12-B2CB-8F34526CF48C}"/>
              </a:ext>
            </a:extLst>
          </p:cNvPr>
          <p:cNvSpPr>
            <a:spLocks noGrp="1"/>
          </p:cNvSpPr>
          <p:nvPr/>
        </p:nvSpPr>
        <p:spPr>
          <a:xfrm>
            <a:off x="8096250" y="234315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787D8"/>
                </a:solidFill>
              </a:defRPr>
            </a:pPr>
            <a:r>
              <a:rPr sz="975" b="1">
                <a:solidFill>
                  <a:srgbClr val="2787D8"/>
                </a:solidFill>
              </a:rPr>
              <a:t>CONTEXT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CD2DB1-8077-409F-8A30-11F4CC9DC58D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171817"/>
                </a:solidFill>
              </a:defRPr>
            </a:pPr>
            <a:r>
              <a:rPr sz="1425" b="1">
                <a:solidFill>
                  <a:srgbClr val="171817"/>
                </a:solidFill>
              </a:rPr>
              <a:t>What was built, why it exists and the role owned.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EF08B5-30C8-44DB-9DC3-F71DFA53B8D2}"/>
              </a:ext>
            </a:extLst>
          </p:cNvPr>
          <p:cNvSpPr>
            <a:spLocks noGrp="1"/>
          </p:cNvSpPr>
          <p:nvPr/>
        </p:nvSpPr>
        <p:spPr>
          <a:xfrm>
            <a:off x="8096250" y="352425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787D8"/>
                </a:solidFill>
              </a:defRPr>
            </a:pPr>
            <a:r>
              <a:rPr sz="975" b="1">
                <a:solidFill>
                  <a:srgbClr val="2787D8"/>
                </a:solidFill>
              </a:rPr>
              <a:t>DECISIONS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77F90-D65C-423C-9508-FF0896D7E5A4}"/>
              </a:ext>
            </a:extLst>
          </p:cNvPr>
          <p:cNvSpPr>
            <a:spLocks noGrp="1"/>
          </p:cNvSpPr>
          <p:nvPr/>
        </p:nvSpPr>
        <p:spPr>
          <a:xfrm>
            <a:off x="8096250" y="38481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171817"/>
                </a:solidFill>
              </a:defRPr>
            </a:pPr>
            <a:r>
              <a:rPr sz="1425" b="1">
                <a:solidFill>
                  <a:srgbClr val="171817"/>
                </a:solidFill>
              </a:rPr>
              <a:t>The product, workflow and safety choices behind the interface.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197C24-965F-4377-8959-8E1FC743BDAC}"/>
              </a:ext>
            </a:extLst>
          </p:cNvPr>
          <p:cNvSpPr>
            <a:spLocks noGrp="1"/>
          </p:cNvSpPr>
          <p:nvPr/>
        </p:nvSpPr>
        <p:spPr>
          <a:xfrm>
            <a:off x="8096250" y="4705350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787D8"/>
                </a:solidFill>
              </a:defRPr>
            </a:pPr>
            <a:r>
              <a:rPr sz="975" b="1">
                <a:solidFill>
                  <a:srgbClr val="2787D8"/>
                </a:solidFill>
              </a:rPr>
              <a:t>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209D22-7CF4-4191-AF36-C3CA7617C3F1}"/>
              </a:ext>
            </a:extLst>
          </p:cNvPr>
          <p:cNvSpPr>
            <a:spLocks noGrp="1"/>
          </p:cNvSpPr>
          <p:nvPr/>
        </p:nvSpPr>
        <p:spPr>
          <a:xfrm>
            <a:off x="8096250" y="50292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171817"/>
                </a:solidFill>
              </a:defRPr>
            </a:pPr>
            <a:r>
              <a:rPr sz="1425" b="1">
                <a:solidFill>
                  <a:srgbClr val="171817"/>
                </a:solidFill>
              </a:rPr>
              <a:t>Architecture, media, public artifacts and explicit status.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46F4FC-CAC2-40FA-B7BC-A2AFE537F8DC}"/>
              </a:ext>
            </a:extLst>
          </p:cNvPr>
          <p:cNvSpPr>
            <a:spLocks noGrp="1"/>
          </p:cNvSpPr>
          <p:nvPr/>
        </p:nvSpPr>
        <p:spPr>
          <a:xfrm>
            <a:off x="8096250" y="5562600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86D68"/>
                </a:solidFill>
              </a:defRPr>
            </a:pPr>
            <a:r>
              <a:rPr sz="1200" b="0">
                <a:solidFill>
                  <a:srgbClr val="686D68"/>
                </a:solidFill>
              </a:rPr>
              <a:t>The result: claims can be checked against implementation detail instead of taken on trust.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BC8171-B5AD-4AEE-ABD0-5E16F41C8C53}"/>
              </a:ext>
            </a:extLst>
          </p:cNvPr>
          <p:cNvSpPr>
            <a:spLocks noGrp="1"/>
          </p:cNvSpPr>
          <p:nvPr/>
        </p:nvSpPr>
        <p:spPr>
          <a:xfrm>
            <a:off x="10934700" y="63817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86D68"/>
                </a:solidFill>
              </a:defRPr>
            </a:pPr>
            <a:r>
              <a:rPr sz="900" b="0">
                <a:solidFill>
                  <a:srgbClr val="686D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9563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DB38602-28F1-4C88-9A29-31A56C5E5F2D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05 · OUTCOME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DDB1F2-3BED-4643-A80E-045F2421685B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866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>
                <a:solidFill>
                  <a:srgbClr val="171817"/>
                </a:solidFill>
              </a:defRPr>
            </a:pPr>
            <a:r>
              <a:rPr sz="3600" b="1">
                <a:solidFill>
                  <a:srgbClr val="171817"/>
                </a:solidFill>
              </a:rPr>
              <a:t>A focused portfolio that can grow without losing its point.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AC1C6E-B809-4B32-9D04-73F2A52F0573}"/>
              </a:ext>
            </a:extLst>
          </p:cNvPr>
          <p:cNvSpPr>
            <a:spLocks noGrp="1"/>
          </p:cNvSpPr>
          <p:nvPr/>
        </p:nvSpPr>
        <p:spPr>
          <a:xfrm>
            <a:off x="704850" y="2171700"/>
            <a:ext cx="781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686D68"/>
                </a:solidFill>
              </a:defRPr>
            </a:pPr>
            <a:r>
              <a:rPr sz="1575" b="0">
                <a:solidFill>
                  <a:srgbClr val="686D68"/>
                </a:solidFill>
              </a:rPr>
              <a:t>Portfolio V2 is live as a coherent product: fast to scan, deep enough to verify and direct about the next action.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F9CC887-87A5-4BCC-94FF-C85CD42F5FA7}"/>
              </a:ext>
            </a:extLst>
          </p:cNvPr>
          <p:cNvSpPr>
            <a:spLocks noGrp="1"/>
          </p:cNvSpPr>
          <p:nvPr/>
        </p:nvSpPr>
        <p:spPr>
          <a:xfrm>
            <a:off x="704850" y="3181350"/>
            <a:ext cx="10401300" cy="0"/>
          </a:xfrm>
          <a:prstGeom prst="line">
            <a:avLst/>
          </a:prstGeom>
          <a:noFill/>
          <a:ln w="9525">
            <a:solidFill>
              <a:srgbClr val="D8DA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B5209E-EBAE-4C39-ADA8-644487833A4A}"/>
              </a:ext>
            </a:extLst>
          </p:cNvPr>
          <p:cNvSpPr>
            <a:spLocks noGrp="1"/>
          </p:cNvSpPr>
          <p:nvPr/>
        </p:nvSpPr>
        <p:spPr>
          <a:xfrm>
            <a:off x="704850" y="35623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B127E9-81B0-4AEA-934B-064E225248FB}"/>
              </a:ext>
            </a:extLst>
          </p:cNvPr>
          <p:cNvSpPr>
            <a:spLocks noGrp="1"/>
          </p:cNvSpPr>
          <p:nvPr/>
        </p:nvSpPr>
        <p:spPr>
          <a:xfrm>
            <a:off x="704850" y="39624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1817"/>
                </a:solidFill>
              </a:defRPr>
            </a:pPr>
            <a:r>
              <a:rPr sz="1725" b="1">
                <a:solidFill>
                  <a:srgbClr val="171817"/>
                </a:solidFill>
              </a:rPr>
              <a:t>Evidence-led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2C55ED-3798-48EA-81B0-39C033F7A0D0}"/>
              </a:ext>
            </a:extLst>
          </p:cNvPr>
          <p:cNvSpPr>
            <a:spLocks noGrp="1"/>
          </p:cNvSpPr>
          <p:nvPr/>
        </p:nvSpPr>
        <p:spPr>
          <a:xfrm>
            <a:off x="704850" y="4419600"/>
            <a:ext cx="295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86D68"/>
                </a:solidFill>
              </a:defRPr>
            </a:pPr>
            <a:r>
              <a:rPr sz="1200" b="0">
                <a:solidFill>
                  <a:srgbClr val="686D68"/>
                </a:solidFill>
              </a:rPr>
              <a:t>Four selected projects connect concise homepage summaries to deeper implementation proof.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89F260-4BC5-4DE7-AC84-6B8B090883B1}"/>
              </a:ext>
            </a:extLst>
          </p:cNvPr>
          <p:cNvSpPr>
            <a:spLocks noGrp="1"/>
          </p:cNvSpPr>
          <p:nvPr/>
        </p:nvSpPr>
        <p:spPr>
          <a:xfrm>
            <a:off x="4171950" y="35623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558128-8ADF-436A-AAFC-34D2B56A65C0}"/>
              </a:ext>
            </a:extLst>
          </p:cNvPr>
          <p:cNvSpPr>
            <a:spLocks noGrp="1"/>
          </p:cNvSpPr>
          <p:nvPr/>
        </p:nvSpPr>
        <p:spPr>
          <a:xfrm>
            <a:off x="4171950" y="39624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1817"/>
                </a:solidFill>
              </a:defRPr>
            </a:pPr>
            <a:r>
              <a:rPr sz="1725" b="1">
                <a:solidFill>
                  <a:srgbClr val="171817"/>
                </a:solidFill>
              </a:rPr>
              <a:t>Accessible by design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B204D5-B9CB-4127-80E0-30BF348E0615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295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86D68"/>
                </a:solidFill>
              </a:defRPr>
            </a:pPr>
            <a:r>
              <a:rPr sz="1200" b="0">
                <a:solidFill>
                  <a:srgbClr val="686D68"/>
                </a:solidFill>
              </a:rPr>
              <a:t>Semantic navigation, keyboard-aware interactions, reduced-motion behavior and clear public actions are built into the experience.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DCF156-2221-4A6F-8632-405C1A65E5CF}"/>
              </a:ext>
            </a:extLst>
          </p:cNvPr>
          <p:cNvSpPr>
            <a:spLocks noGrp="1"/>
          </p:cNvSpPr>
          <p:nvPr/>
        </p:nvSpPr>
        <p:spPr>
          <a:xfrm>
            <a:off x="7639050" y="35623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35734F"/>
                </a:solidFill>
              </a:defRPr>
            </a:pPr>
            <a:r>
              <a:rPr sz="975" b="1">
                <a:solidFill>
                  <a:srgbClr val="35734F"/>
                </a:solidFill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A7227D-EE10-4BB5-B2B5-F3F99B229152}"/>
              </a:ext>
            </a:extLst>
          </p:cNvPr>
          <p:cNvSpPr>
            <a:spLocks noGrp="1"/>
          </p:cNvSpPr>
          <p:nvPr/>
        </p:nvSpPr>
        <p:spPr>
          <a:xfrm>
            <a:off x="7639050" y="39624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1817"/>
                </a:solidFill>
              </a:defRPr>
            </a:pPr>
            <a:r>
              <a:rPr sz="1725" b="1">
                <a:solidFill>
                  <a:srgbClr val="171817"/>
                </a:solidFill>
              </a:rPr>
              <a:t>Production-backed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EF1C06-F06C-42CB-A1E8-11559D3AC559}"/>
              </a:ext>
            </a:extLst>
          </p:cNvPr>
          <p:cNvSpPr>
            <a:spLocks noGrp="1"/>
          </p:cNvSpPr>
          <p:nvPr/>
        </p:nvSpPr>
        <p:spPr>
          <a:xfrm>
            <a:off x="7639050" y="4419600"/>
            <a:ext cx="295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86D68"/>
                </a:solidFill>
              </a:defRPr>
            </a:pPr>
            <a:r>
              <a:rPr sz="1200" b="0">
                <a:solidFill>
                  <a:srgbClr val="686D68"/>
                </a:solidFill>
              </a:rPr>
              <a:t>React and Vinext ship through Cloudflare Pages, with D1 supporting visitor data and automated route checks protecting the rendered experience.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CB398D-5BB3-40D7-8F99-4FC9BEA9148E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6229350" cy="571500"/>
          </a:xfrm>
          <a:prstGeom prst="roundRect">
            <a:avLst>
              <a:gd name="adj" fmla="val 36667"/>
            </a:avLst>
          </a:prstGeom>
          <a:solidFill>
            <a:srgbClr val="35734F"/>
          </a:solidFill>
          <a:ln w="0">
            <a:solidFill>
              <a:srgbClr val="3573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B5BCA9-4311-4B64-A80B-F77B3D6A977F}"/>
              </a:ext>
            </a:extLst>
          </p:cNvPr>
          <p:cNvSpPr>
            <a:spLocks noGrp="1"/>
          </p:cNvSpPr>
          <p:nvPr/>
        </p:nvSpPr>
        <p:spPr>
          <a:xfrm>
            <a:off x="971550" y="5743575"/>
            <a:ext cx="5657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View live  ·  chitthway-portfolio.pages.dev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C09926-1FE3-43E1-B912-7CA007A7B364}"/>
              </a:ext>
            </a:extLst>
          </p:cNvPr>
          <p:cNvSpPr>
            <a:spLocks noGrp="1"/>
          </p:cNvSpPr>
          <p:nvPr/>
        </p:nvSpPr>
        <p:spPr>
          <a:xfrm>
            <a:off x="7734300" y="5676900"/>
            <a:ext cx="335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686D68"/>
                </a:solidFill>
              </a:defRPr>
            </a:pPr>
            <a:r>
              <a:rPr sz="1200" b="0">
                <a:solidFill>
                  <a:srgbClr val="686D68"/>
                </a:solidFill>
              </a:rPr>
              <a:t>Diary is documented in a separate companion case study.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7D5ACC-5247-4F0F-8D40-0F4F337244C4}"/>
              </a:ext>
            </a:extLst>
          </p:cNvPr>
          <p:cNvSpPr>
            <a:spLocks noGrp="1"/>
          </p:cNvSpPr>
          <p:nvPr/>
        </p:nvSpPr>
        <p:spPr>
          <a:xfrm>
            <a:off x="10934700" y="638175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86D68"/>
                </a:solidFill>
              </a:defRPr>
            </a:pPr>
            <a:r>
              <a:rPr sz="900" b="0">
                <a:solidFill>
                  <a:srgbClr val="686D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39803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Microsoft Office PowerPoint</Application>
  <DocSecurity>0</DocSecurity>
  <PresentationFormat>Widescreen</PresentationFormat>
  <Paragraphs>100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Chit Thway</cp:lastModifiedBy>
  <cp:revision>1</cp:revision>
  <dcterms:created xsi:type="dcterms:W3CDTF">2026-08-28T08:25:21Z</dcterms:created>
  <dcterms:modified xsi:type="dcterms:W3CDTF">2026-08-28T08:35:28Z</dcterms:modified>
</cp:coreProperties>
</file>